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10489" y="2529929"/>
            <a:ext cx="8171021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AI Ethics for Beginners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74690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Navigating the New Frontier of Intelligence: A Guide to Building a Fairer, Smarter World.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1460850" y="1433573"/>
            <a:ext cx="3222600" cy="717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460846" y="2043750"/>
            <a:ext cx="4479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Why Does Ethics Matter?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183800" y="3071800"/>
            <a:ext cx="53775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Moving from "Can we build it?" to "</a:t>
            </a:r>
            <a:r>
              <a:rPr b="1" i="0" lang="en-US" sz="2850" u="none" cap="none" strike="noStrike">
                <a:solidFill>
                  <a:srgbClr val="004080"/>
                </a:solidFill>
                <a:latin typeface="Open Sans"/>
                <a:ea typeface="Open Sans"/>
                <a:cs typeface="Open Sans"/>
                <a:sym typeface="Open Sans"/>
              </a:rPr>
              <a:t>Should we build it?</a:t>
            </a:r>
            <a:r>
              <a:rPr b="0" i="0" lang="en-US" sz="285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"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2465"/>
            <a:ext cx="5238750" cy="2693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82465"/>
            <a:ext cx="5238750" cy="269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CORE PILLAR: FAIRNESS &amp; BIAS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3011090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Algorithm Bias?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554015"/>
            <a:ext cx="4476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AI learns from human data. If that data contains historical prejudices, the AI doesn't just learn them—it automates and scales them.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62750" y="3011090"/>
            <a:ext cx="47005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Fairness Challenge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62750" y="3554015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Ensuring that AI treats all individuals equally, regardless of race, gender, or background, is the primary goal of ethical development.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TRANSPARENCY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819697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"Black Box" Problem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3362622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Many modern AI models are so complex that even their creators can't explain exactly why a specific decision was made.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436810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Transparency is about building "Explainable AI" that humans can trust and audit for safety.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FOUNDATIONS OF DATA PRIVACY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571500" y="2158603"/>
            <a:ext cx="3492400" cy="3540918"/>
            <a:chOff x="571500" y="2158603"/>
            <a:chExt cx="3492400" cy="3540918"/>
          </a:xfrm>
        </p:grpSpPr>
        <p:pic>
          <p:nvPicPr>
            <p:cNvPr descr="image.png" id="127" name="Google Shape;12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2158603"/>
              <a:ext cx="3492400" cy="3540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 txBox="1"/>
            <p:nvPr/>
          </p:nvSpPr>
          <p:spPr>
            <a:xfrm>
              <a:off x="884239" y="3377803"/>
              <a:ext cx="286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1F3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Consent</a:t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952500" y="3920728"/>
              <a:ext cx="27303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Users must know what data is being collected and how it is used by AI systems.</a:t>
              </a:r>
              <a:endParaRPr/>
            </a:p>
          </p:txBody>
        </p:sp>
        <p:pic>
          <p:nvPicPr>
            <p:cNvPr descr="image.png" id="130" name="Google Shape;13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08150" y="2625328"/>
              <a:ext cx="419100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17"/>
          <p:cNvGrpSpPr/>
          <p:nvPr/>
        </p:nvGrpSpPr>
        <p:grpSpPr>
          <a:xfrm>
            <a:off x="4349650" y="2158603"/>
            <a:ext cx="3492549" cy="3540918"/>
            <a:chOff x="4349650" y="2158603"/>
            <a:chExt cx="3492549" cy="3540918"/>
          </a:xfrm>
        </p:grpSpPr>
        <p:pic>
          <p:nvPicPr>
            <p:cNvPr descr="image.png" id="132" name="Google Shape;13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49650" y="2158603"/>
              <a:ext cx="3492549" cy="3540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7"/>
            <p:cNvSpPr txBox="1"/>
            <p:nvPr/>
          </p:nvSpPr>
          <p:spPr>
            <a:xfrm>
              <a:off x="4662387" y="3377803"/>
              <a:ext cx="2867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1F3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Security</a:t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4730650" y="3920728"/>
              <a:ext cx="2730600" cy="14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Protecting data from breaches is essential to prevent misuse of personal identities.</a:t>
              </a:r>
              <a:endParaRPr/>
            </a:p>
          </p:txBody>
        </p:sp>
        <p:pic>
          <p:nvPicPr>
            <p:cNvPr descr="image.png" id="135" name="Google Shape;13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95813" y="2625328"/>
              <a:ext cx="600075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7"/>
          <p:cNvGrpSpPr/>
          <p:nvPr/>
        </p:nvGrpSpPr>
        <p:grpSpPr>
          <a:xfrm>
            <a:off x="8127950" y="2158603"/>
            <a:ext cx="3492400" cy="3540918"/>
            <a:chOff x="8127950" y="2158603"/>
            <a:chExt cx="3492400" cy="3540918"/>
          </a:xfrm>
        </p:grpSpPr>
        <p:pic>
          <p:nvPicPr>
            <p:cNvPr descr="image.png" id="137" name="Google Shape;13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27950" y="2158603"/>
              <a:ext cx="3492400" cy="35409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7"/>
            <p:cNvSpPr txBox="1"/>
            <p:nvPr/>
          </p:nvSpPr>
          <p:spPr>
            <a:xfrm>
              <a:off x="8440690" y="3377803"/>
              <a:ext cx="2866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001F3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Anonymity</a:t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8508950" y="3920728"/>
              <a:ext cx="27303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AI should process insights from patterns, not from identifiable personal lives.</a:t>
              </a:r>
              <a:endParaRPr/>
            </a:p>
          </p:txBody>
        </p:sp>
        <p:pic>
          <p:nvPicPr>
            <p:cNvPr descr="image.png" id="140" name="Google Shape;140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74113" y="2625328"/>
              <a:ext cx="600075" cy="47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THE SCALE OF THE PROBLEM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867025"/>
            <a:ext cx="3733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85%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581525"/>
            <a:ext cx="37338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Predicted Bias Risk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067300" y="3154858"/>
            <a:ext cx="68808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Global Priority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067300" y="3697783"/>
            <a:ext cx="65532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Gartner predicts that by 2025, 85% of AI projects will deliver erroneous outcomes due to bias in data or algorithms. Ethics is no longer a luxury; it is a technical necessity.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5524500" y="2535584"/>
            <a:ext cx="1143000" cy="571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460545" y="2783234"/>
            <a:ext cx="727090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AI Ethics in Action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3071812" y="4116734"/>
            <a:ext cx="60483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Real-world dilemmas that redefined our approach.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FACIAL RECOGNITION RISKS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265211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Training Data Gaps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319504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When facial recognition AI is trained on non-diverse datasets, its accuracy drops significantly for underrepresented groups.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4200525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This leads to dangerous misidentifications in law enforcement and surveillance, raising profound civil liberty concerns.</a:t>
            </a:r>
            <a:endParaRPr/>
          </a:p>
        </p:txBody>
      </p:sp>
      <p:pic>
        <p:nvPicPr>
          <p:cNvPr descr="image.png"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PRINCIPLES OF RESPONSIBLE AI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047750" y="2997696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Accountability: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Clear legal and moral responsibility must be assigned for AI actions.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1047750" y="3618607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Human Safety: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AI should never be deployed in ways that threaten physical or psychological harm.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047750" y="4239517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Human Oversight: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Humans should always have the final "kill switch" in high-stakes decisions.</a:t>
            </a:r>
            <a:endParaRPr/>
          </a:p>
        </p:txBody>
      </p:sp>
      <p:pic>
        <p:nvPicPr>
          <p:cNvPr descr="image.png" id="182" name="Google Shape;1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40558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146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82380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THE POLICY LANDSCAPE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71500" y="4058840"/>
            <a:ext cx="110490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1672530" y="32968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D700"/>
          </a:solidFill>
          <a:ln cap="flat" cmpd="sng" w="38100">
            <a:solidFill>
              <a:srgbClr val="001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510733" y="3715940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GDPR Era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173140"/>
            <a:ext cx="243066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Early focus on data privacy and the 'right to an explanation' for users.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4545210" y="32968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D700"/>
          </a:solidFill>
          <a:ln cap="flat" cmpd="sng" w="38100">
            <a:solidFill>
              <a:srgbClr val="001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3383413" y="3715940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Ethics Guidelines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3444180" y="4173140"/>
            <a:ext cx="243066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Major tech firms and nations release "Principles" for ethical development.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7417891" y="32968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D700"/>
          </a:solidFill>
          <a:ln cap="flat" cmpd="sng" w="38100">
            <a:solidFill>
              <a:srgbClr val="001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6256094" y="3715940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EU AI Act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16860" y="4173140"/>
            <a:ext cx="243066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world's first comprehensive law to regulate AI based on risk levels.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10290571" y="329684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D700"/>
          </a:solidFill>
          <a:ln cap="flat" cmpd="sng" w="38100">
            <a:solidFill>
              <a:srgbClr val="001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9128774" y="3715940"/>
            <a:ext cx="25521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Accord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189541" y="4173140"/>
            <a:ext cx="243066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Moving toward international standards for safe and benevolent AI.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1333500" y="1876425"/>
            <a:ext cx="9525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750" u="none" cap="none" strike="noStrike">
                <a:solidFill>
                  <a:srgbClr val="001F3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"Ethics is not a bolt-on feature for AI; it is the very foundation upon which intelligent systems must be built to serve humanity." 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4505325" y="4638675"/>
            <a:ext cx="3181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50" u="none" cap="none" strike="noStrike">
                <a:solidFill>
                  <a:srgbClr val="004080"/>
                </a:solidFill>
                <a:latin typeface="Open Sans"/>
                <a:ea typeface="Open Sans"/>
                <a:cs typeface="Open Sans"/>
                <a:sym typeface="Open Sans"/>
              </a:rPr>
              <a:t>— Responsible AI Initiative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1585436" y="1783109"/>
            <a:ext cx="902112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Join the Conversation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2286000" y="311660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0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future of AI is not something that happens to us—it is something we build together.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4229100" y="4446240"/>
            <a:ext cx="3733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Contact Us:</a:t>
            </a:r>
            <a:r>
              <a:rPr b="0" i="0" lang="en-US" sz="18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 ethics@aisociety.org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Learn More:</a:t>
            </a:r>
            <a:r>
              <a:rPr b="0" i="0" lang="en-US" sz="18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 www.futureofethics.ai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1F3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304993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666875" y="319280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https://img.freepik.com/premium-vector/digital-eye-data-network-cyber-security-technology-vector-background-futuristic-tech-virtual-cyberspace-internet-secure-surveillance-binary-code-digital-eye-safety-scanner_8071-7138.jpg?w=360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666875" y="36366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www.freepik.com</a:t>
            </a:r>
            <a:endParaRPr/>
          </a:p>
        </p:txBody>
      </p:sp>
      <p:pic>
        <p:nvPicPr>
          <p:cNvPr descr="image.png" id="233" name="Google Shape;2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1666875" y="41756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https://www.siam.org/media/0vxjvhl3/figure1.jpg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666875" y="44213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www.siam.org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